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Students%20Performance%20exam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Students%20Performance%20exam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Students%20Performance%20exam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ownloads\Students%20Performance%20exam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[Students Performance exams.xlsx]PIVOT TABLE!PivotTable1</c:name>
    <c:fmtId val="7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TABLE'!$B$3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5DA-4497-9256-59048EFC501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5DA-4497-9256-59048EFC5017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TABLE'!$A$4:$A$6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'PIVOT TABLE'!$B$4:$B$6</c:f>
              <c:numCache>
                <c:formatCode>General</c:formatCode>
                <c:ptCount val="2"/>
                <c:pt idx="0">
                  <c:v>63.633204633204635</c:v>
                </c:pt>
                <c:pt idx="1">
                  <c:v>68.72821576763485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5DA-4497-9256-59048EFC5017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[Students Performance exams.xlsx]PIVOT TABLE!PivotTable2</c:name>
    <c:fmtId val="5"/>
  </c:pivotSource>
  <c:chart>
    <c:title>
      <c:layout>
        <c:manualLayout>
          <c:xMode val="edge"/>
          <c:yMode val="edge"/>
          <c:x val="0.83472879014231649"/>
          <c:y val="3.96039603960396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TABLE'!$B$12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satMod val="110000"/>
                    <a:lumMod val="104000"/>
                  </a:schemeClr>
                </a:gs>
                <a:gs pos="69000">
                  <a:schemeClr val="accent1">
                    <a:shade val="88000"/>
                    <a:satMod val="130000"/>
                    <a:lumMod val="92000"/>
                  </a:schemeClr>
                </a:gs>
                <a:gs pos="100000">
                  <a:schemeClr val="accent1">
                    <a:shade val="78000"/>
                    <a:satMod val="130000"/>
                    <a:lumMod val="92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50800" dir="5400000" sx="96000" sy="96000" rotWithShape="0">
                <a:srgbClr val="000000">
                  <a:alpha val="48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1080000"/>
              </a:lightRig>
            </a:scene3d>
            <a:sp3d>
              <a:bevelT w="38100" h="12700" prst="softRound"/>
            </a:sp3d>
          </c:spPr>
          <c:invertIfNegative val="0"/>
          <c:cat>
            <c:strRef>
              <c:f>'PIVOT TABLE'!$A$13:$A$15</c:f>
              <c:strCache>
                <c:ptCount val="2"/>
                <c:pt idx="0">
                  <c:v>completed</c:v>
                </c:pt>
                <c:pt idx="1">
                  <c:v>none</c:v>
                </c:pt>
              </c:strCache>
            </c:strRef>
          </c:cat>
          <c:val>
            <c:numRef>
              <c:f>'PIVOT TABLE'!$B$13:$B$15</c:f>
              <c:numCache>
                <c:formatCode>General</c:formatCode>
                <c:ptCount val="2"/>
                <c:pt idx="0">
                  <c:v>73.893854748603346</c:v>
                </c:pt>
                <c:pt idx="1">
                  <c:v>66.534267912772592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93-411B-9820-AFD80B6DA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062657264"/>
        <c:axId val="1062656016"/>
      </c:barChart>
      <c:catAx>
        <c:axId val="10626572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2656016"/>
        <c:crosses val="autoZero"/>
        <c:auto val="1"/>
        <c:lblAlgn val="ctr"/>
        <c:lblOffset val="100"/>
        <c:noMultiLvlLbl val="0"/>
      </c:catAx>
      <c:valAx>
        <c:axId val="1062656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2657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[Students Performance exams.xlsx]PIVOT TABLE!PivotTable3</c:name>
    <c:fmtId val="8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TABLE'!$B$18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TABLE'!$A$19:$A$25</c:f>
              <c:strCache>
                <c:ptCount val="6"/>
                <c:pt idx="0">
                  <c:v>associate's degree</c:v>
                </c:pt>
                <c:pt idx="1">
                  <c:v>bachelor's degree</c:v>
                </c:pt>
                <c:pt idx="2">
                  <c:v>high school</c:v>
                </c:pt>
                <c:pt idx="3">
                  <c:v>master's degree</c:v>
                </c:pt>
                <c:pt idx="4">
                  <c:v>some college</c:v>
                </c:pt>
                <c:pt idx="5">
                  <c:v>some high school</c:v>
                </c:pt>
              </c:strCache>
            </c:strRef>
          </c:cat>
          <c:val>
            <c:numRef>
              <c:f>'PIVOT TABLE'!$B$19:$B$25</c:f>
              <c:numCache>
                <c:formatCode>General</c:formatCode>
                <c:ptCount val="6"/>
                <c:pt idx="0">
                  <c:v>69.896396396396398</c:v>
                </c:pt>
                <c:pt idx="1">
                  <c:v>73.381355932203391</c:v>
                </c:pt>
                <c:pt idx="2">
                  <c:v>62.448979591836732</c:v>
                </c:pt>
                <c:pt idx="3">
                  <c:v>75.677966101694921</c:v>
                </c:pt>
                <c:pt idx="4">
                  <c:v>68.840707964601776</c:v>
                </c:pt>
                <c:pt idx="5">
                  <c:v>64.888268156424587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0C-46B9-9E14-B1A5CB7400B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971446672"/>
        <c:axId val="971444592"/>
      </c:barChart>
      <c:catAx>
        <c:axId val="9714466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1444592"/>
        <c:crosses val="autoZero"/>
        <c:auto val="1"/>
        <c:lblAlgn val="ctr"/>
        <c:lblOffset val="100"/>
        <c:noMultiLvlLbl val="0"/>
      </c:catAx>
      <c:valAx>
        <c:axId val="97144459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714466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[Students Performance exams.xlsx]PIVOT TABLE!PivotTable4</c:name>
    <c:fmtId val="8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22225">
              <a:solidFill>
                <a:schemeClr val="lt1"/>
              </a:solidFill>
              <a:round/>
            </a:ln>
            <a:effectLst/>
          </c:spPr>
        </c:marker>
        <c:dLbl>
          <c:idx val="0"/>
          <c:spPr>
            <a:solidFill>
              <a:srgbClr val="4472C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4472C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UpDiag">
            <a:fgClr>
              <a:schemeClr val="accent1"/>
            </a:fgClr>
            <a:bgClr>
              <a:schemeClr val="lt1"/>
            </a:bgClr>
          </a:patt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rgbClr val="4472C4">
                <a:alpha val="70000"/>
              </a:srgb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TABLE'!$B$27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'PIVOT TABLE'!$A$28:$A$30</c:f>
              <c:strCache>
                <c:ptCount val="2"/>
                <c:pt idx="0">
                  <c:v>free/reduced</c:v>
                </c:pt>
                <c:pt idx="1">
                  <c:v>standard</c:v>
                </c:pt>
              </c:strCache>
            </c:strRef>
          </c:cat>
          <c:val>
            <c:numRef>
              <c:f>'PIVOT TABLE'!$B$28:$B$30</c:f>
              <c:numCache>
                <c:formatCode>General</c:formatCode>
                <c:ptCount val="2"/>
                <c:pt idx="0">
                  <c:v>355</c:v>
                </c:pt>
                <c:pt idx="1">
                  <c:v>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C2-4779-98BB-9A7A5879BB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1424736928"/>
        <c:axId val="1424738176"/>
      </c:barChart>
      <c:catAx>
        <c:axId val="1424736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4738176"/>
        <c:crosses val="autoZero"/>
        <c:auto val="1"/>
        <c:lblAlgn val="ctr"/>
        <c:lblOffset val="100"/>
        <c:noMultiLvlLbl val="0"/>
      </c:catAx>
      <c:valAx>
        <c:axId val="1424738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2473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6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37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786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847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037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45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8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0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9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01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13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25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63A89-AF62-45C9-AE9A-CF80BE53F71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CE0CDD7-BE6D-4965-AE5F-F1236B6996D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93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4C4DD-814A-4654-9961-2A48CA790A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STUDENT PERFORMANCE DASHBOARD-Data analysis report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6C8BF3-4300-41A8-B4C0-8B99994633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200" b="1" dirty="0"/>
              <a:t>Exam Performance Analysis by Gender, Parental Education, Test Prep &amp; Socioeconomic Status.</a:t>
            </a:r>
          </a:p>
          <a:p>
            <a:pPr algn="l"/>
            <a:r>
              <a:rPr lang="en-US" sz="1200" b="1" dirty="0"/>
              <a:t>NAME: </a:t>
            </a:r>
            <a:r>
              <a:rPr lang="en-US" sz="1400" b="1" dirty="0"/>
              <a:t>ABUBAKAR-ALMUTASIM</a:t>
            </a:r>
            <a:r>
              <a:rPr lang="en-US" sz="1200" b="1" dirty="0"/>
              <a:t> IBRAHIM</a:t>
            </a:r>
          </a:p>
          <a:p>
            <a:pPr algn="l"/>
            <a:r>
              <a:rPr lang="en-US" sz="1200" b="1" dirty="0"/>
              <a:t>COURSE: ACCOUNTING</a:t>
            </a:r>
          </a:p>
          <a:p>
            <a:pPr algn="l"/>
            <a:r>
              <a:rPr lang="en-US" sz="1200" b="1" dirty="0"/>
              <a:t>DEP Excel Exam- Student PERFORMANCE Analysis</a:t>
            </a:r>
          </a:p>
          <a:p>
            <a:pPr algn="l"/>
            <a:r>
              <a:rPr lang="en-US" sz="1200" b="1" dirty="0"/>
              <a:t>ID: 24C-SMS-ACC-0210</a:t>
            </a:r>
          </a:p>
          <a:p>
            <a:pPr algn="l"/>
            <a:endParaRPr lang="en-US" sz="1200" b="1" dirty="0"/>
          </a:p>
          <a:p>
            <a:endParaRPr lang="en-US" sz="1200" b="1" dirty="0"/>
          </a:p>
          <a:p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37348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FA6FE-FF80-4206-9755-371CD66AE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725" y="1740023"/>
            <a:ext cx="10608076" cy="443694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Data Explanation: Student performance</a:t>
            </a:r>
          </a:p>
          <a:p>
            <a:pPr marL="0" indent="0">
              <a:buNone/>
            </a:pPr>
            <a:r>
              <a:rPr lang="en-US" dirty="0"/>
              <a:t>Rows: 1000 student records</a:t>
            </a:r>
          </a:p>
          <a:p>
            <a:pPr marL="0" indent="0">
              <a:buNone/>
            </a:pPr>
            <a:r>
              <a:rPr lang="en-US" dirty="0"/>
              <a:t>Columns: 8 VARIABLES</a:t>
            </a:r>
          </a:p>
          <a:p>
            <a:pPr marL="0" indent="0">
              <a:buNone/>
            </a:pPr>
            <a:r>
              <a:rPr lang="en-US" dirty="0"/>
              <a:t>Variables included:</a:t>
            </a:r>
          </a:p>
          <a:p>
            <a:pPr marL="0" indent="0">
              <a:buNone/>
            </a:pPr>
            <a:r>
              <a:rPr lang="en-US" dirty="0"/>
              <a:t>Column description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Gender: Male / Female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Race/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ethnicityl</a:t>
            </a:r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Group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A, B, C, D, E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Parental level of education 6 levels (some high school to master's degree)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Lunch Standard / Free or reduced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test preparation course Completed / None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math score 0–100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reading score 0–100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writing score 0–100</a:t>
            </a:r>
          </a:p>
          <a:p>
            <a:pPr marL="0" indent="0">
              <a:buNone/>
            </a:pPr>
            <a:r>
              <a:rPr lang="en-US" dirty="0"/>
              <a:t>Purpose: Identify key factors influencing student performance to guide educational interventions.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15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A497-711F-42B2-BD65-BDF695BAD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522" y="337351"/>
            <a:ext cx="10448278" cy="1353337"/>
          </a:xfrm>
        </p:spPr>
        <p:txBody>
          <a:bodyPr/>
          <a:lstStyle/>
          <a:p>
            <a:r>
              <a:rPr lang="en-US" dirty="0"/>
              <a:t>DATABASE SCREENSHOT.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DEFD1D6-526E-4A4D-B2B2-ECCD6AE9B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499102"/>
              </p:ext>
            </p:extLst>
          </p:nvPr>
        </p:nvGraphicFramePr>
        <p:xfrm>
          <a:off x="838200" y="1322773"/>
          <a:ext cx="4266459" cy="21062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8C77A3C-94FA-4069-9F62-572FE50BAC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0194296"/>
              </p:ext>
            </p:extLst>
          </p:nvPr>
        </p:nvGraphicFramePr>
        <p:xfrm>
          <a:off x="5326602" y="1322773"/>
          <a:ext cx="6480698" cy="20063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5912890-4CBB-4450-BB4F-80D4B053AB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0056182"/>
              </p:ext>
            </p:extLst>
          </p:nvPr>
        </p:nvGraphicFramePr>
        <p:xfrm>
          <a:off x="461640" y="3604334"/>
          <a:ext cx="5255580" cy="3062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1D5FD47-2002-45D7-8734-92DB3441DD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33912441"/>
              </p:ext>
            </p:extLst>
          </p:nvPr>
        </p:nvGraphicFramePr>
        <p:xfrm>
          <a:off x="6095999" y="3429000"/>
          <a:ext cx="5711301" cy="3238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6122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37779-9B66-42A4-92E6-50203164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FA3E6-7C26-42E4-ADDA-B2B408C9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5"/>
            <a:ext cx="10515600" cy="5013988"/>
          </a:xfrm>
        </p:spPr>
        <p:txBody>
          <a:bodyPr>
            <a:normAutofit fontScale="55000" lnSpcReduction="20000"/>
          </a:bodyPr>
          <a:lstStyle/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Insights from the Data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Gender Differences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Males score higher in Math (66.2 vs 63.6)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Females score higher in Reading (72.1 vs 65.8) and Writing (72.8 vs 63.7)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Action: Targeted tutoring – math for females, reading/writing for males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Parental Education Impact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Master's degree parents → highest scores (~69–76)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Some high school parents → lowest scores (~58–63)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Action: Parental engagement programs for lower education families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Test Preparation Works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Completed course → ~6–8 points higher in all subjects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Action: Increase access to test prep, especially for free/reduced lunch students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Socioeconomic Gap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Standard lunch students outperform free/reduced lunch by 7–9 points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9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Action: Equity initiatives – extra resources for lower-income students</a:t>
            </a:r>
          </a:p>
          <a:p>
            <a:pPr marL="0" marR="0" indent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78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C34C-DF3D-4E1F-944E-D53FC9C7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F3F41-945F-47B4-BD49-87C197D41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50" y="1065320"/>
            <a:ext cx="10936550" cy="5111643"/>
          </a:xfrm>
        </p:spPr>
        <p:txBody>
          <a:bodyPr>
            <a:normAutofit fontScale="62500" lnSpcReduction="20000"/>
          </a:bodyPr>
          <a:lstStyle/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Summary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Students perform best when: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</a:t>
            </a:r>
            <a:r>
              <a:rPr lang="en-US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They complete test preparation courses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</a:t>
            </a:r>
            <a:r>
              <a:rPr lang="en-US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Parents have higher education levels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</a:t>
            </a:r>
            <a:r>
              <a:rPr lang="en-US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They have standard lunch (socioeconomic advantage)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Critical Gaps Identified: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</a:t>
            </a:r>
            <a:r>
              <a:rPr lang="en-US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Math performance lags behind reading/writing overall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</a:t>
            </a:r>
            <a:r>
              <a:rPr lang="en-US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Free/reduced lunch students score significantly lower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</a:t>
            </a:r>
            <a:r>
              <a:rPr lang="en-US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Male students struggle with reading/writing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· </a:t>
            </a:r>
            <a:r>
              <a:rPr lang="en-US" sz="1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Female students struggle with math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Recommendations: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Priority Action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Expand free test prep access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Targeted math tutoring for females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 Reading/writing support for males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Medium Parental education workshops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Medium Equity funding for low-income schools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Final Statement:</a:t>
            </a:r>
          </a:p>
          <a:p>
            <a:pPr marL="0" marR="0" algn="just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Data-driven interventions can close the performance gap by focusing on test preparation, targeted tutoring, and equitable resource allocation.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91168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</TotalTime>
  <Words>412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Gill Sans MT</vt:lpstr>
      <vt:lpstr>Segoe UI Emoji</vt:lpstr>
      <vt:lpstr>Gallery</vt:lpstr>
      <vt:lpstr>STUDENT PERFORMANCE DASHBOARD-Data analysis report </vt:lpstr>
      <vt:lpstr>PowerPoint Presentation</vt:lpstr>
      <vt:lpstr>DATABASE SCREENSHOT.</vt:lpstr>
      <vt:lpstr>FINDINGS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DASHBOARD-Data analysis report</dc:title>
  <dc:creator>JUSTICE ABUBAKAR-ALMUTTASIM MUHAMMAD IBRAHIM</dc:creator>
  <cp:lastModifiedBy>JUSTICE ABUBAKAR-ALMUTTASIM MUHAMMAD IBRAHIM</cp:lastModifiedBy>
  <cp:revision>4</cp:revision>
  <dcterms:created xsi:type="dcterms:W3CDTF">2026-04-18T15:04:47Z</dcterms:created>
  <dcterms:modified xsi:type="dcterms:W3CDTF">2026-04-18T15:46:58Z</dcterms:modified>
</cp:coreProperties>
</file>